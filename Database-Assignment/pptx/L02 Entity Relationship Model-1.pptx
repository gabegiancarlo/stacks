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Nunito"/>
      <p:regular r:id="rId28"/>
      <p:bold r:id="rId29"/>
      <p:italic r:id="rId30"/>
      <p:boldItalic r:id="rId31"/>
    </p:embeddedFont>
    <p:embeddedFont>
      <p:font typeface="Maven Pro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iQvSft9lbY/73IlUATOkZ+ieJ7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Nunito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-boldItalic.fntdata"/><Relationship Id="rId30" Type="http://schemas.openxmlformats.org/officeDocument/2006/relationships/font" Target="fonts/Nunito-italic.fntdata"/><Relationship Id="rId11" Type="http://schemas.openxmlformats.org/officeDocument/2006/relationships/slide" Target="slides/slide6.xml"/><Relationship Id="rId33" Type="http://schemas.openxmlformats.org/officeDocument/2006/relationships/font" Target="fonts/MavenPro-bold.fntdata"/><Relationship Id="rId10" Type="http://schemas.openxmlformats.org/officeDocument/2006/relationships/slide" Target="slides/slide5.xml"/><Relationship Id="rId32" Type="http://schemas.openxmlformats.org/officeDocument/2006/relationships/font" Target="fonts/MavenPro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f252fc7c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2f252fc7c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b5a4dda9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g2b5a4dda9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b5a4dda98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g2b5a4dda98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78e47aac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378e47aac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2d52749ac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g32d52749a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2d52749ac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32d52749ac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f250ede0f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2f250ede0f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6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6"/>
            <p:cNvGrpSpPr/>
            <p:nvPr/>
          </p:nvGrpSpPr>
          <p:grpSpPr>
            <a:xfrm>
              <a:off x="7343003" y="4453711"/>
              <a:ext cx="316800" cy="688512"/>
              <a:chOff x="7343003" y="4453711"/>
              <a:chExt cx="316800" cy="688512"/>
            </a:xfrm>
          </p:grpSpPr>
          <p:sp>
            <p:nvSpPr>
              <p:cNvPr id="12" name="Google Shape;12;p26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13;p26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" name="Google Shape;14;p26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6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26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26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" name="Google Shape;18;p26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6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26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26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26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" name="Google Shape;23;p26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6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26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26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26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26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9" name="Google Shape;29;p26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6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6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" name="Google Shape;32;p26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6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26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26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" name="Google Shape;36;p26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" name="Google Shape;37;p26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6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26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" name="Google Shape;40;p26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6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6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6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6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6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" name="Google Shape;46;p26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6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2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51" name="Google Shape;51;p2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058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058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" name="Google Shape;53;p2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27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28"/>
          <p:cNvGrpSpPr/>
          <p:nvPr/>
        </p:nvGrpSpPr>
        <p:grpSpPr>
          <a:xfrm>
            <a:off x="146769" y="3406"/>
            <a:ext cx="1233214" cy="1384535"/>
            <a:chOff x="146769" y="3406"/>
            <a:chExt cx="1233214" cy="1384535"/>
          </a:xfrm>
        </p:grpSpPr>
        <p:grpSp>
          <p:nvGrpSpPr>
            <p:cNvPr id="58" name="Google Shape;58;p28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9" name="Google Shape;59;p28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28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" name="Google Shape;61;p28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62" name="Google Shape;62;p28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28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28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" name="Google Shape;65;p28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66" name="Google Shape;66;p28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28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28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28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0" name="Google Shape;70;p28"/>
          <p:cNvGrpSpPr/>
          <p:nvPr/>
        </p:nvGrpSpPr>
        <p:grpSpPr>
          <a:xfrm>
            <a:off x="6775084" y="2904008"/>
            <a:ext cx="2186147" cy="2239500"/>
            <a:chOff x="6775084" y="2904008"/>
            <a:chExt cx="2186147" cy="2239500"/>
          </a:xfrm>
        </p:grpSpPr>
        <p:grpSp>
          <p:nvGrpSpPr>
            <p:cNvPr id="71" name="Google Shape;71;p28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72" name="Google Shape;72;p28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28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4" name="Google Shape;74;p28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75" name="Google Shape;75;p28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28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28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" name="Google Shape;78;p28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9" name="Google Shape;79;p28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28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28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28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3" name="Google Shape;83;p28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84" name="Google Shape;84;p28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28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28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28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28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9" name="Google Shape;89;p28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2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2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2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058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058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" name="Google Shape;95;p2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29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29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2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30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3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058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3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058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3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3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31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31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058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31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058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" name="Google Shape;109;p31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31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3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32"/>
          <p:cNvGrpSpPr/>
          <p:nvPr/>
        </p:nvGrpSpPr>
        <p:grpSpPr>
          <a:xfrm>
            <a:off x="6866714" y="1255"/>
            <a:ext cx="2267380" cy="2601741"/>
            <a:chOff x="6790514" y="1255"/>
            <a:chExt cx="2267380" cy="2601741"/>
          </a:xfrm>
        </p:grpSpPr>
        <p:grpSp>
          <p:nvGrpSpPr>
            <p:cNvPr id="114" name="Google Shape;114;p32"/>
            <p:cNvGrpSpPr/>
            <p:nvPr/>
          </p:nvGrpSpPr>
          <p:grpSpPr>
            <a:xfrm>
              <a:off x="7067536" y="1255"/>
              <a:ext cx="1990358" cy="1990303"/>
              <a:chOff x="7067536" y="1255"/>
              <a:chExt cx="1990358" cy="1990303"/>
            </a:xfrm>
          </p:grpSpPr>
          <p:sp>
            <p:nvSpPr>
              <p:cNvPr id="115" name="Google Shape;115;p32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32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32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" name="Google Shape;118;p32"/>
            <p:cNvGrpSpPr/>
            <p:nvPr/>
          </p:nvGrpSpPr>
          <p:grpSpPr>
            <a:xfrm>
              <a:off x="8207126" y="1807997"/>
              <a:ext cx="795000" cy="795000"/>
              <a:chOff x="8207126" y="1807997"/>
              <a:chExt cx="795000" cy="795000"/>
            </a:xfrm>
          </p:grpSpPr>
          <p:sp>
            <p:nvSpPr>
              <p:cNvPr id="119" name="Google Shape;119;p32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32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32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2" name="Google Shape;122;p32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32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32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5" name="Google Shape;125;p32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3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33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33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058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33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058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" name="Google Shape;131;p33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33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33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3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34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3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058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3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058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" name="Google Shape;139;p34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3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35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35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35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35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35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35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8" name="Google Shape;148;p35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35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35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35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35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35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4" name="Google Shape;154;p35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35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35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35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35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" name="Google Shape;159;p35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35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35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35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3" name="Google Shape;163;p35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35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35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35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35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35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9" name="Google Shape;169;p35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35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35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35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35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4" name="Google Shape;174;p35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35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35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35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8" name="Google Shape;178;p35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35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35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35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35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35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4" name="Google Shape;184;p35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35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35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35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35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9" name="Google Shape;189;p35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35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35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35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35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4" name="Google Shape;194;p35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35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35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35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8" name="Google Shape;198;p35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35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35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35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35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3" name="Google Shape;203;p35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35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35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35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35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8" name="Google Shape;208;p35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35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35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35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35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35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4" name="Google Shape;214;p35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35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35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35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35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9" name="Google Shape;219;p35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35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35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35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3" name="Google Shape;223;p35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35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35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35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35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8" name="Google Shape;228;p35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35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35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35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35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35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4" name="Google Shape;234;p35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35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35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35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35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9" name="Google Shape;239;p35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35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35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35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3" name="Google Shape;243;p35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35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35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35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35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35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9" name="Google Shape;249;p35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35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35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35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35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4" name="Google Shape;254;p35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35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35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35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35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9" name="Google Shape;259;p35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35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35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35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3" name="Google Shape;263;p35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35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35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35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35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74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8" name="Google Shape;268;p35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35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3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2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"/>
          <p:cNvSpPr txBox="1"/>
          <p:nvPr>
            <p:ph type="ctrTitle"/>
          </p:nvPr>
        </p:nvSpPr>
        <p:spPr>
          <a:xfrm>
            <a:off x="824000" y="1613825"/>
            <a:ext cx="48363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Entity-Relationship Model</a:t>
            </a:r>
            <a:endParaRPr/>
          </a:p>
        </p:txBody>
      </p:sp>
      <p:sp>
        <p:nvSpPr>
          <p:cNvPr id="278" name="Google Shape;278;p1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CPSC408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f252fc7ca9_0_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Pre-Class Question</a:t>
            </a:r>
            <a:endParaRPr/>
          </a:p>
        </p:txBody>
      </p:sp>
      <p:sp>
        <p:nvSpPr>
          <p:cNvPr id="284" name="Google Shape;284;g2f252fc7ca9_0_0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n" sz="1800"/>
              <a:t>What database words did we learn last class? </a:t>
            </a:r>
            <a:endParaRPr sz="1800"/>
          </a:p>
        </p:txBody>
      </p:sp>
      <p:pic>
        <p:nvPicPr>
          <p:cNvPr id="285" name="Google Shape;285;g2f252fc7ca9_0_0"/>
          <p:cNvPicPr preferRelativeResize="0"/>
          <p:nvPr/>
        </p:nvPicPr>
        <p:blipFill rotWithShape="1">
          <a:blip r:embed="rId3">
            <a:alphaModFix/>
          </a:blip>
          <a:srcRect b="3671" l="60228" r="5036" t="56283"/>
          <a:stretch/>
        </p:blipFill>
        <p:spPr>
          <a:xfrm>
            <a:off x="2983963" y="2819675"/>
            <a:ext cx="3176074" cy="2029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g2f252fc7ca9_0_0"/>
          <p:cNvSpPr/>
          <p:nvPr/>
        </p:nvSpPr>
        <p:spPr>
          <a:xfrm>
            <a:off x="2895550" y="2643225"/>
            <a:ext cx="1332300" cy="2320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7" name="Google Shape;287;g2f252fc7ca9_0_0"/>
          <p:cNvSpPr/>
          <p:nvPr/>
        </p:nvSpPr>
        <p:spPr>
          <a:xfrm>
            <a:off x="2756800" y="3128475"/>
            <a:ext cx="3517800" cy="573300"/>
          </a:xfrm>
          <a:prstGeom prst="rect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ER Model: Design Phase of Database</a:t>
            </a:r>
            <a:endParaRPr/>
          </a:p>
        </p:txBody>
      </p:sp>
      <p:sp>
        <p:nvSpPr>
          <p:cNvPr id="293" name="Google Shape;293;p2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An </a:t>
            </a:r>
            <a:r>
              <a:rPr b="1" lang="en" sz="1800"/>
              <a:t>Entity Relationship Model</a:t>
            </a:r>
            <a:r>
              <a:rPr lang="en" sz="1800"/>
              <a:t> is the first phase in developing a new database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n" sz="1800"/>
              <a:t>It can address questions about what information will be stored in our database, how elements relate to one another, and what constraints are needed 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DESIGN PHASE (EXAMPLE)</a:t>
            </a:r>
            <a:endParaRPr/>
          </a:p>
        </p:txBody>
      </p:sp>
      <p:sp>
        <p:nvSpPr>
          <p:cNvPr id="299" name="Google Shape;299;p3"/>
          <p:cNvSpPr txBox="1"/>
          <p:nvPr>
            <p:ph idx="1" type="body"/>
          </p:nvPr>
        </p:nvSpPr>
        <p:spPr>
          <a:xfrm>
            <a:off x="1303800" y="1597875"/>
            <a:ext cx="7030500" cy="29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An ER model for a music application can address questions about what information will be stored:</a:t>
            </a:r>
            <a:endParaRPr sz="18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Songs, Artists, Albums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How elements relate to one another:</a:t>
            </a:r>
            <a:endParaRPr sz="18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Artists release Albums with Songs on them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And what constraints are needed:</a:t>
            </a:r>
            <a:endParaRPr sz="18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Keys, Data Types, References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ENTITY</a:t>
            </a:r>
            <a:endParaRPr/>
          </a:p>
        </p:txBody>
      </p:sp>
      <p:sp>
        <p:nvSpPr>
          <p:cNvPr id="305" name="Google Shape;305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An </a:t>
            </a:r>
            <a:r>
              <a:rPr b="1" lang="en" sz="1800"/>
              <a:t>Entity</a:t>
            </a:r>
            <a:r>
              <a:rPr lang="en" sz="1800"/>
              <a:t> is some sort of object or “thing” that can have an independent existence.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n" sz="1800"/>
              <a:t>This could be something physical like a chair or a table, or it could be something more abstract like a college course or a job. 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ATTRIBUTE</a:t>
            </a:r>
            <a:endParaRPr/>
          </a:p>
        </p:txBody>
      </p:sp>
      <p:sp>
        <p:nvSpPr>
          <p:cNvPr id="311" name="Google Shape;311;p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An </a:t>
            </a:r>
            <a:r>
              <a:rPr b="1" lang="en" sz="1800"/>
              <a:t>Attribute </a:t>
            </a:r>
            <a:r>
              <a:rPr lang="en" sz="1800"/>
              <a:t>is any sort of property that describes an entity. 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You could say any instance of a table has a color, a height, a location, and so on. </a:t>
            </a: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RELATIONSHIP</a:t>
            </a:r>
            <a:endParaRPr/>
          </a:p>
        </p:txBody>
      </p:sp>
      <p:sp>
        <p:nvSpPr>
          <p:cNvPr id="317" name="Google Shape;317;p7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A </a:t>
            </a:r>
            <a:r>
              <a:rPr b="1" lang="en" sz="1800"/>
              <a:t>Relationship</a:t>
            </a:r>
            <a:r>
              <a:rPr lang="en" sz="1800"/>
              <a:t> is a connection among two entities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n" sz="1800"/>
              <a:t>Relationships can also help decide the complexity of inserting data into our tables and getting it back out again.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b5a4dda987_0_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ER Diagrams</a:t>
            </a:r>
            <a:endParaRPr/>
          </a:p>
        </p:txBody>
      </p:sp>
      <p:sp>
        <p:nvSpPr>
          <p:cNvPr id="323" name="Google Shape;323;g2b5a4dda987_0_0"/>
          <p:cNvSpPr txBox="1"/>
          <p:nvPr>
            <p:ph idx="1" type="body"/>
          </p:nvPr>
        </p:nvSpPr>
        <p:spPr>
          <a:xfrm>
            <a:off x="1303800" y="1912425"/>
            <a:ext cx="7030500" cy="27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en" sz="1800"/>
              <a:t>Entity-Relationship Diagrams (ER Diagrams) </a:t>
            </a:r>
            <a:r>
              <a:rPr lang="en" sz="1800"/>
              <a:t>are how we use the entities and relationships from our scenario and sketch out a     </a:t>
            </a:r>
            <a:r>
              <a:rPr lang="en" sz="1800" u="sng"/>
              <a:t>first rough draft</a:t>
            </a:r>
            <a:r>
              <a:rPr lang="en" sz="1800"/>
              <a:t> for our database. 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n" sz="1800"/>
              <a:t>These can either be drawn on paper or on some online chart maker. (I use LucidChart)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b5a4dda987_0_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ER Diagrams</a:t>
            </a:r>
            <a:endParaRPr/>
          </a:p>
        </p:txBody>
      </p:sp>
      <p:sp>
        <p:nvSpPr>
          <p:cNvPr id="329" name="Google Shape;329;g2b5a4dda987_0_5"/>
          <p:cNvSpPr txBox="1"/>
          <p:nvPr>
            <p:ph idx="1" type="body"/>
          </p:nvPr>
        </p:nvSpPr>
        <p:spPr>
          <a:xfrm>
            <a:off x="1303800" y="1300950"/>
            <a:ext cx="7030500" cy="3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Things we decide </a:t>
            </a:r>
            <a:r>
              <a:rPr b="1" lang="en" sz="1800"/>
              <a:t>at this step</a:t>
            </a:r>
            <a:r>
              <a:rPr lang="en" sz="1800"/>
              <a:t>: 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What entities we want our database to store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What attributes we will use to describe them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What relationships our entities will have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What kind of relationships these will be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78e47aac9b_0_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ER Diagrams</a:t>
            </a:r>
            <a:endParaRPr/>
          </a:p>
        </p:txBody>
      </p:sp>
      <p:sp>
        <p:nvSpPr>
          <p:cNvPr id="335" name="Google Shape;335;g378e47aac9b_0_0"/>
          <p:cNvSpPr txBox="1"/>
          <p:nvPr>
            <p:ph idx="1" type="body"/>
          </p:nvPr>
        </p:nvSpPr>
        <p:spPr>
          <a:xfrm>
            <a:off x="1303800" y="1300950"/>
            <a:ext cx="7030500" cy="3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Things we decide </a:t>
            </a:r>
            <a:r>
              <a:rPr b="1" lang="en" sz="1800"/>
              <a:t>later</a:t>
            </a:r>
            <a:r>
              <a:rPr lang="en" sz="1800"/>
              <a:t>: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Every single table that will be in our database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What our database schema will look like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How we will implement our relationships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2d52749acc_0_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ER Diagrams</a:t>
            </a:r>
            <a:endParaRPr/>
          </a:p>
        </p:txBody>
      </p:sp>
      <p:sp>
        <p:nvSpPr>
          <p:cNvPr id="341" name="Google Shape;341;g32d52749acc_0_0"/>
          <p:cNvSpPr txBox="1"/>
          <p:nvPr>
            <p:ph idx="1" type="body"/>
          </p:nvPr>
        </p:nvSpPr>
        <p:spPr>
          <a:xfrm>
            <a:off x="1303800" y="1300950"/>
            <a:ext cx="7030500" cy="3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There are a wide variety of notation styles used for creating ER Diagrams, and the one we will be using is the </a:t>
            </a:r>
            <a:r>
              <a:rPr b="1" lang="en" sz="1800"/>
              <a:t>Chen</a:t>
            </a:r>
            <a:r>
              <a:rPr lang="en" sz="1800"/>
              <a:t> notation style.</a:t>
            </a:r>
            <a:endParaRPr/>
          </a:p>
        </p:txBody>
      </p:sp>
      <p:pic>
        <p:nvPicPr>
          <p:cNvPr id="342" name="Google Shape;342;g32d52749acc_0_0"/>
          <p:cNvPicPr preferRelativeResize="0"/>
          <p:nvPr/>
        </p:nvPicPr>
        <p:blipFill rotWithShape="1">
          <a:blip r:embed="rId3">
            <a:alphaModFix/>
          </a:blip>
          <a:srcRect b="50000" l="0" r="0" t="0"/>
          <a:stretch/>
        </p:blipFill>
        <p:spPr>
          <a:xfrm>
            <a:off x="1911350" y="2571750"/>
            <a:ext cx="2613469" cy="1999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g32d52749acc_0_0"/>
          <p:cNvPicPr preferRelativeResize="0"/>
          <p:nvPr/>
        </p:nvPicPr>
        <p:blipFill rotWithShape="1">
          <a:blip r:embed="rId3">
            <a:alphaModFix/>
          </a:blip>
          <a:srcRect b="1064" l="0" r="0" t="48932"/>
          <a:stretch/>
        </p:blipFill>
        <p:spPr>
          <a:xfrm>
            <a:off x="4906150" y="2571750"/>
            <a:ext cx="2613474" cy="1999154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g32d52749acc_0_0"/>
          <p:cNvSpPr/>
          <p:nvPr/>
        </p:nvSpPr>
        <p:spPr>
          <a:xfrm>
            <a:off x="4892200" y="3280025"/>
            <a:ext cx="2613600" cy="668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Creating an ER Diagram</a:t>
            </a:r>
            <a:endParaRPr/>
          </a:p>
        </p:txBody>
      </p:sp>
      <p:sp>
        <p:nvSpPr>
          <p:cNvPr id="350" name="Google Shape;350;p8"/>
          <p:cNvSpPr txBox="1"/>
          <p:nvPr>
            <p:ph idx="1" type="body"/>
          </p:nvPr>
        </p:nvSpPr>
        <p:spPr>
          <a:xfrm>
            <a:off x="1303800" y="1835300"/>
            <a:ext cx="7030500" cy="27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An </a:t>
            </a:r>
            <a:r>
              <a:rPr b="1" lang="en" sz="1800"/>
              <a:t>Entity </a:t>
            </a:r>
            <a:r>
              <a:rPr lang="en" sz="1800"/>
              <a:t>is represented in the ER Model by a </a:t>
            </a:r>
            <a:r>
              <a:rPr b="1" lang="en" sz="1800"/>
              <a:t>rectangle</a:t>
            </a:r>
            <a:r>
              <a:rPr lang="en" sz="1800"/>
              <a:t>. These will be all of the things your database is choosing to store information about.</a:t>
            </a:r>
            <a:endParaRPr sz="1800"/>
          </a:p>
        </p:txBody>
      </p:sp>
      <p:pic>
        <p:nvPicPr>
          <p:cNvPr id="351" name="Google Shape;35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8875" y="2961825"/>
            <a:ext cx="2946251" cy="164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Creating an ER Diagram</a:t>
            </a:r>
            <a:endParaRPr/>
          </a:p>
        </p:txBody>
      </p:sp>
      <p:sp>
        <p:nvSpPr>
          <p:cNvPr id="357" name="Google Shape;357;p9"/>
          <p:cNvSpPr txBox="1"/>
          <p:nvPr>
            <p:ph idx="1" type="body"/>
          </p:nvPr>
        </p:nvSpPr>
        <p:spPr>
          <a:xfrm>
            <a:off x="1172700" y="1690863"/>
            <a:ext cx="35157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An </a:t>
            </a:r>
            <a:r>
              <a:rPr b="1" lang="en" sz="1800"/>
              <a:t>attribute </a:t>
            </a:r>
            <a:r>
              <a:rPr lang="en" sz="1800"/>
              <a:t>of an entity is represented by an oval.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The key attribute of the entity will be underlined</a:t>
            </a:r>
            <a:endParaRPr sz="1800"/>
          </a:p>
        </p:txBody>
      </p:sp>
      <p:pic>
        <p:nvPicPr>
          <p:cNvPr id="358" name="Google Shape;35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2775" y="1465625"/>
            <a:ext cx="2927975" cy="144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6413" y="3082475"/>
            <a:ext cx="2764349" cy="124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2d52749acc_0_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Creating an ER Diagram</a:t>
            </a:r>
            <a:endParaRPr/>
          </a:p>
        </p:txBody>
      </p:sp>
      <p:sp>
        <p:nvSpPr>
          <p:cNvPr id="365" name="Google Shape;365;g32d52749acc_0_18"/>
          <p:cNvSpPr txBox="1"/>
          <p:nvPr>
            <p:ph idx="1" type="body"/>
          </p:nvPr>
        </p:nvSpPr>
        <p:spPr>
          <a:xfrm>
            <a:off x="1172700" y="1690875"/>
            <a:ext cx="69297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We connect entities to their respective attributes using lines</a:t>
            </a:r>
            <a:endParaRPr sz="1800"/>
          </a:p>
        </p:txBody>
      </p:sp>
      <p:pic>
        <p:nvPicPr>
          <p:cNvPr id="366" name="Google Shape;366;g32d52749acc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3575" y="2605681"/>
            <a:ext cx="4756826" cy="1955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Creating an ER Diagram</a:t>
            </a:r>
            <a:endParaRPr/>
          </a:p>
        </p:txBody>
      </p:sp>
      <p:sp>
        <p:nvSpPr>
          <p:cNvPr id="372" name="Google Shape;372;p10"/>
          <p:cNvSpPr txBox="1"/>
          <p:nvPr>
            <p:ph idx="1" type="body"/>
          </p:nvPr>
        </p:nvSpPr>
        <p:spPr>
          <a:xfrm>
            <a:off x="1303800" y="1597875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b="1" lang="en" sz="1800"/>
              <a:t>Relationships</a:t>
            </a:r>
            <a:r>
              <a:rPr lang="en" sz="1800"/>
              <a:t> between entities are represented with diamonds </a:t>
            </a:r>
            <a:endParaRPr sz="1800"/>
          </a:p>
        </p:txBody>
      </p:sp>
      <p:pic>
        <p:nvPicPr>
          <p:cNvPr id="373" name="Google Shape;37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9587" y="2571750"/>
            <a:ext cx="3438925" cy="154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RELATIONSHIP</a:t>
            </a:r>
            <a:endParaRPr/>
          </a:p>
        </p:txBody>
      </p:sp>
      <p:sp>
        <p:nvSpPr>
          <p:cNvPr id="379" name="Google Shape;379;p12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There are four types of relationships: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One to one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One to many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Many to one 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Many to many</a:t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ONE TO ONE RELATIONSHIP</a:t>
            </a:r>
            <a:endParaRPr/>
          </a:p>
        </p:txBody>
      </p:sp>
      <p:sp>
        <p:nvSpPr>
          <p:cNvPr id="385" name="Google Shape;385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When a single instance of an entity is associated with a single instance of another entity, at most, this is a </a:t>
            </a:r>
            <a:r>
              <a:rPr b="1" lang="en" sz="1800"/>
              <a:t>one-to-one </a:t>
            </a:r>
            <a:r>
              <a:rPr lang="en" sz="1800"/>
              <a:t>relationship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Example: One person only has one SSN, and each SSN is assigned to only one person.</a:t>
            </a:r>
            <a:endParaRPr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ONE TO MANY RELATIONSHIP</a:t>
            </a:r>
            <a:endParaRPr/>
          </a:p>
        </p:txBody>
      </p:sp>
      <p:sp>
        <p:nvSpPr>
          <p:cNvPr id="391" name="Google Shape;391;p1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When a single instance of an entity is associated with multiple instances of another entity, at most, this is a </a:t>
            </a:r>
            <a:r>
              <a:rPr b="1" lang="en" sz="1800"/>
              <a:t>one-to-many</a:t>
            </a:r>
            <a:r>
              <a:rPr lang="en" sz="1800"/>
              <a:t> relationship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Example: An astronaut can only work at one agency, but an agency can employ multiple astronauts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MANY TO ONE RELATIONSHIP</a:t>
            </a:r>
            <a:endParaRPr/>
          </a:p>
        </p:txBody>
      </p:sp>
      <p:sp>
        <p:nvSpPr>
          <p:cNvPr id="397" name="Google Shape;397;p1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When multiple instances of an entity are associated with a single instance of another entity, at most, this is a </a:t>
            </a:r>
            <a:r>
              <a:rPr b="1" lang="en" sz="1800"/>
              <a:t>many-to-one</a:t>
            </a:r>
            <a:r>
              <a:rPr lang="en" sz="1800"/>
              <a:t> relationship. This is the exact same thing as one-to-many, you are just starting from the second entity instead of the first. You could use both to describe the same relationship.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Example: A college can enroll many students but a student cannot be enrolled in many colleges.</a:t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MANY TO MANY RELATIONSHIP</a:t>
            </a:r>
            <a:endParaRPr/>
          </a:p>
        </p:txBody>
      </p:sp>
      <p:sp>
        <p:nvSpPr>
          <p:cNvPr id="403" name="Google Shape;403;p20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When multiple instances of an entity are associated with multiple instances of another entity, at most, this is a </a:t>
            </a:r>
            <a:r>
              <a:rPr b="1" lang="en" sz="1800"/>
              <a:t>many-to-many</a:t>
            </a:r>
            <a:r>
              <a:rPr lang="en" sz="1800"/>
              <a:t> relationship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Example: Astronauts can go on many Expeditions, and Expeditions can have many astronauts.</a:t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Cardinality</a:t>
            </a:r>
            <a:endParaRPr/>
          </a:p>
        </p:txBody>
      </p:sp>
      <p:sp>
        <p:nvSpPr>
          <p:cNvPr id="409" name="Google Shape;409;p21"/>
          <p:cNvSpPr txBox="1"/>
          <p:nvPr>
            <p:ph idx="1" type="body"/>
          </p:nvPr>
        </p:nvSpPr>
        <p:spPr>
          <a:xfrm>
            <a:off x="1303800" y="1990050"/>
            <a:ext cx="7080600" cy="20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n" sz="1800"/>
              <a:t>We call which of these four options any relationship has the </a:t>
            </a:r>
            <a:r>
              <a:rPr b="1" lang="en" sz="1800"/>
              <a:t>cardinality </a:t>
            </a:r>
            <a:r>
              <a:rPr lang="en" sz="1800"/>
              <a:t>of that relationship</a:t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f250ede0f8_0_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Cardinality</a:t>
            </a:r>
            <a:endParaRPr/>
          </a:p>
        </p:txBody>
      </p:sp>
      <p:sp>
        <p:nvSpPr>
          <p:cNvPr id="415" name="Google Shape;415;g2f250ede0f8_0_1"/>
          <p:cNvSpPr txBox="1"/>
          <p:nvPr>
            <p:ph idx="1" type="body"/>
          </p:nvPr>
        </p:nvSpPr>
        <p:spPr>
          <a:xfrm>
            <a:off x="1303800" y="1990050"/>
            <a:ext cx="6851700" cy="30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n" sz="1800"/>
              <a:t>The cardinality of a relationship is shown on an ER model with a 1 or M on either side of the relationship</a:t>
            </a:r>
            <a:endParaRPr sz="1800"/>
          </a:p>
        </p:txBody>
      </p:sp>
      <p:pic>
        <p:nvPicPr>
          <p:cNvPr id="416" name="Google Shape;416;g2f250ede0f8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6651" y="3175055"/>
            <a:ext cx="4165999" cy="8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g2f250ede0f8_0_1"/>
          <p:cNvSpPr/>
          <p:nvPr/>
        </p:nvSpPr>
        <p:spPr>
          <a:xfrm>
            <a:off x="5348725" y="3395900"/>
            <a:ext cx="238200" cy="185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</a:t>
            </a:r>
            <a:endParaRPr b="0" i="0" sz="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