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hVAXwlV9ia30p7q6Ypi6Je2f4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MavenPro-bold.fntdata"/><Relationship Id="rId23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7bc00b4cc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27bc00b4cc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4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14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p14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14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p14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14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14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14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14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14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14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4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4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14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14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14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14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14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14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14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14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4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14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14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4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4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14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14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1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1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p14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4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4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4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4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4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4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14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51" name="Google Shape;51;p1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6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58" name="Google Shape;58;p16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9" name="Google Shape;59;p16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6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" name="Google Shape;61;p16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2" name="Google Shape;62;p16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6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6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16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6" name="Google Shape;66;p16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6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16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16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" name="Google Shape;70;p16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1" name="Google Shape;71;p16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2" name="Google Shape;72;p16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6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74;p16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5" name="Google Shape;75;p16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6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6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16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9" name="Google Shape;79;p16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6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6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6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" name="Google Shape;83;p16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4" name="Google Shape;84;p16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6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6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6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6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9" name="Google Shape;89;p1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1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1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1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19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20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14" name="Google Shape;114;p20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15" name="Google Shape;115;p2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0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20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19" name="Google Shape;119;p20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" name="Google Shape;122;p20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2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5" name="Google Shape;125;p20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1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2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21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21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2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2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23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23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23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3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23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23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oogle Shape;163;p23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23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3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3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3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3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23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23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3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3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3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23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23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3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3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" name="Google Shape;178;p23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23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3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3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3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3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" name="Google Shape;184;p23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23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3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3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3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23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23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3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3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3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23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23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3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3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198;p23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23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3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3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3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23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23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3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3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3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23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23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3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3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23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3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214;p23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23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23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3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3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23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23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3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3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23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23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3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3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23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23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23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3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3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3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3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23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23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3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23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23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p23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23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23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23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p23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23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3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3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3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3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23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23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3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3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23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23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23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23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3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3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p23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23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3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23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p23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23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23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3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23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23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ER Model Example</a:t>
            </a:r>
            <a:endParaRPr/>
          </a:p>
        </p:txBody>
      </p:sp>
      <p:sp>
        <p:nvSpPr>
          <p:cNvPr id="278" name="Google Shape;278;p1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CPSC408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284" name="Google Shape;284;p2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2222"/>
              <a:buNone/>
            </a:pPr>
            <a:r>
              <a:rPr lang="en" sz="1800"/>
              <a:t>A car insurance company approaches us and asks for a plan for their accident management system. This system needs to store information about Customers, Cars, and Accidents.</a:t>
            </a:r>
            <a:endParaRPr sz="1800"/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Each customer has a member ID, name, email, phone number, and one or more cars</a:t>
            </a:r>
            <a:endParaRPr sz="1800"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Each car has a car ID, make, model, year, and zero or more accidents it’s been in</a:t>
            </a:r>
            <a:endParaRPr sz="1800"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Each accident has a claim ID, a date, location, and damage dollar amount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290" name="Google Shape;290;p3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Let’s construct our ER Diagram based off of these parameters.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296" name="Google Shape;296;p4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Let’s construct our ER Diagram based off of these parameters.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We have three </a:t>
            </a:r>
            <a:r>
              <a:rPr b="1" lang="en" sz="1800"/>
              <a:t>entities </a:t>
            </a:r>
            <a:r>
              <a:rPr lang="en" sz="1800"/>
              <a:t>in this example.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302" name="Google Shape;302;p5"/>
          <p:cNvSpPr txBox="1"/>
          <p:nvPr>
            <p:ph idx="1" type="body"/>
          </p:nvPr>
        </p:nvSpPr>
        <p:spPr>
          <a:xfrm>
            <a:off x="1303800" y="1597875"/>
            <a:ext cx="70305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Let’s construct our ER Diagram based off of these parameters.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We have three </a:t>
            </a:r>
            <a:r>
              <a:rPr b="1" lang="en" sz="1800"/>
              <a:t>entities </a:t>
            </a:r>
            <a:r>
              <a:rPr lang="en" sz="1800"/>
              <a:t>in this example.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Customers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Cars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Accidents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308" name="Google Shape;308;p6"/>
          <p:cNvSpPr txBox="1"/>
          <p:nvPr>
            <p:ph idx="1" type="body"/>
          </p:nvPr>
        </p:nvSpPr>
        <p:spPr>
          <a:xfrm>
            <a:off x="1303800" y="1597875"/>
            <a:ext cx="70305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</p:txBody>
      </p:sp>
      <p:pic>
        <p:nvPicPr>
          <p:cNvPr id="309" name="Google Shape;3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0873" y="1597873"/>
            <a:ext cx="3982450" cy="2833200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198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315" name="Google Shape;315;p7"/>
          <p:cNvSpPr txBox="1"/>
          <p:nvPr>
            <p:ph idx="1" type="body"/>
          </p:nvPr>
        </p:nvSpPr>
        <p:spPr>
          <a:xfrm>
            <a:off x="1303800" y="1597875"/>
            <a:ext cx="70305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Our entities each have </a:t>
            </a:r>
            <a:r>
              <a:rPr b="1" lang="en" sz="1800"/>
              <a:t>attributes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Customers: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	</a:t>
            </a:r>
            <a:r>
              <a:rPr lang="en" sz="1800" u="sng"/>
              <a:t>memberID</a:t>
            </a:r>
            <a:r>
              <a:rPr lang="en" sz="1800"/>
              <a:t>, name, email, phoneNumber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Cars: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	</a:t>
            </a:r>
            <a:r>
              <a:rPr lang="en" sz="1800" u="sng"/>
              <a:t>carID</a:t>
            </a:r>
            <a:r>
              <a:rPr lang="en" sz="1800"/>
              <a:t>, make, model, year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Accidents: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	</a:t>
            </a:r>
            <a:r>
              <a:rPr lang="en" sz="1800" u="sng"/>
              <a:t>claimID</a:t>
            </a:r>
            <a:r>
              <a:rPr lang="en" sz="1800"/>
              <a:t>, location, date, damageTotal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321" name="Google Shape;321;p8"/>
          <p:cNvSpPr txBox="1"/>
          <p:nvPr>
            <p:ph idx="1" type="body"/>
          </p:nvPr>
        </p:nvSpPr>
        <p:spPr>
          <a:xfrm>
            <a:off x="1303800" y="1597875"/>
            <a:ext cx="70305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</p:txBody>
      </p:sp>
      <p:pic>
        <p:nvPicPr>
          <p:cNvPr id="322" name="Google Shape;3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8573" y="1417350"/>
            <a:ext cx="5000949" cy="3371675"/>
          </a:xfrm>
          <a:prstGeom prst="rect">
            <a:avLst/>
          </a:prstGeom>
          <a:noFill/>
          <a:ln>
            <a:noFill/>
          </a:ln>
          <a:effectLst>
            <a:outerShdw blurRad="300038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328" name="Google Shape;328;p9"/>
          <p:cNvSpPr txBox="1"/>
          <p:nvPr>
            <p:ph idx="1" type="body"/>
          </p:nvPr>
        </p:nvSpPr>
        <p:spPr>
          <a:xfrm>
            <a:off x="1303800" y="1597875"/>
            <a:ext cx="70305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Our entities each have </a:t>
            </a:r>
            <a:r>
              <a:rPr b="1" lang="en" sz="1800"/>
              <a:t>relationships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customer can have one or more car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car can have zero or more accidents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334" name="Google Shape;334;p10"/>
          <p:cNvSpPr txBox="1"/>
          <p:nvPr>
            <p:ph idx="1" type="body"/>
          </p:nvPr>
        </p:nvSpPr>
        <p:spPr>
          <a:xfrm>
            <a:off x="1303800" y="1597875"/>
            <a:ext cx="70305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Our entities each have </a:t>
            </a:r>
            <a:r>
              <a:rPr b="1" lang="en" sz="1800"/>
              <a:t>relationships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 customer can have one or more car: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	For each customer, there can be </a:t>
            </a:r>
            <a:r>
              <a:rPr b="1" lang="en" sz="1800"/>
              <a:t>many </a:t>
            </a:r>
            <a:r>
              <a:rPr lang="en" sz="1800"/>
              <a:t>cars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	For each car, there can only be </a:t>
            </a:r>
            <a:r>
              <a:rPr b="1" lang="en" sz="1800"/>
              <a:t>one </a:t>
            </a:r>
            <a:r>
              <a:rPr lang="en" sz="1800"/>
              <a:t>customer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	The relationship between customer and car is </a:t>
            </a:r>
            <a:r>
              <a:rPr b="1" lang="en" sz="1800"/>
              <a:t>one to many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(Note, the opposite relationship between car and customer is many-to-one. This describes the same type of relationship, you just always start with the entity you are describing first.)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340" name="Google Shape;340;p11"/>
          <p:cNvSpPr txBox="1"/>
          <p:nvPr>
            <p:ph idx="1" type="body"/>
          </p:nvPr>
        </p:nvSpPr>
        <p:spPr>
          <a:xfrm>
            <a:off x="1303800" y="1597875"/>
            <a:ext cx="70305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Our entities each have </a:t>
            </a:r>
            <a:r>
              <a:rPr b="1" lang="en" sz="1800"/>
              <a:t>relationships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A car can have zero or more accidents: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	For each car there can be </a:t>
            </a:r>
            <a:r>
              <a:rPr b="1" lang="en" sz="1800"/>
              <a:t>many </a:t>
            </a:r>
            <a:r>
              <a:rPr lang="en" sz="1800"/>
              <a:t>accidents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	For each accident, the insurance claim is for </a:t>
            </a:r>
            <a:r>
              <a:rPr b="1" lang="en" sz="1800"/>
              <a:t>one </a:t>
            </a:r>
            <a:r>
              <a:rPr lang="en" sz="1800"/>
              <a:t>car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	The relationship between cars and accidents is </a:t>
            </a:r>
            <a:r>
              <a:rPr b="1" lang="en" sz="1800"/>
              <a:t>one to many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346" name="Google Shape;346;p12"/>
          <p:cNvSpPr txBox="1"/>
          <p:nvPr>
            <p:ph idx="1" type="body"/>
          </p:nvPr>
        </p:nvSpPr>
        <p:spPr>
          <a:xfrm>
            <a:off x="1303800" y="1597875"/>
            <a:ext cx="70305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</p:txBody>
      </p:sp>
      <p:pic>
        <p:nvPicPr>
          <p:cNvPr id="347" name="Google Shape;3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271" y="1645750"/>
            <a:ext cx="4649475" cy="3186550"/>
          </a:xfrm>
          <a:prstGeom prst="rect">
            <a:avLst/>
          </a:prstGeom>
          <a:noFill/>
          <a:ln>
            <a:noFill/>
          </a:ln>
          <a:effectLst>
            <a:outerShdw blurRad="442913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7bc00b4cc2_0_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 Note on Relationships</a:t>
            </a:r>
            <a:endParaRPr/>
          </a:p>
        </p:txBody>
      </p:sp>
      <p:sp>
        <p:nvSpPr>
          <p:cNvPr id="353" name="Google Shape;353;g27bc00b4cc2_0_3"/>
          <p:cNvSpPr txBox="1"/>
          <p:nvPr>
            <p:ph idx="1" type="body"/>
          </p:nvPr>
        </p:nvSpPr>
        <p:spPr>
          <a:xfrm>
            <a:off x="1303800" y="1348075"/>
            <a:ext cx="70305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In ER Model examples you find online, you will sometimes see shorthand for “One” and “Many” that look like the below. A “One” is represented by two parallel lines, and a “Many” is represented by an arrow and a line. Both are valid notation for relationships on the ER Model, feel free to use either when creating your charts. 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</p:txBody>
      </p:sp>
      <p:pic>
        <p:nvPicPr>
          <p:cNvPr id="354" name="Google Shape;354;g27bc00b4cc2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3825" y="3138625"/>
            <a:ext cx="4115201" cy="159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